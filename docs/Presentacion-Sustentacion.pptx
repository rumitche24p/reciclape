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1B5E20"/>
                </a:solidFill>
                <a:latin typeface="Arial"/>
              </a:rPr>
              <a:t>ReciclaPe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118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424242"/>
                </a:solidFill>
                <a:latin typeface="Arial"/>
              </a:rPr>
              <a:t>Plataforma de gestión de reciclaje vecinal basada en microservicios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Desarrollo de Aplicaciones Web II (4697)  |  CIBERTEC  |  Ciclo Sexto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949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Equipo: [Coordinador y 4 integrantes]   ·   Profesor: [Nombre del profesor]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424242"/>
                </a:solidFill>
                <a:latin typeface="Arial"/>
              </a:rPr>
              <a:t>• El problema: residuos sólidos y reciclaje en Lima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24242"/>
                </a:solidFill>
                <a:latin typeface="Arial"/>
              </a:rPr>
              <a:t>• La solución ReciclaPe y sus objetivos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24242"/>
                </a:solidFill>
                <a:latin typeface="Arial"/>
              </a:rPr>
              <a:t>• Arquitectura de microservicios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24242"/>
                </a:solidFill>
                <a:latin typeface="Arial"/>
              </a:rPr>
              <a:t>• Modelo de datos y API REST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24242"/>
                </a:solidFill>
                <a:latin typeface="Arial"/>
              </a:rPr>
              <a:t>• Seguridad (JWT + BCrypt) y flujo de recojo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24242"/>
                </a:solidFill>
                <a:latin typeface="Arial"/>
              </a:rPr>
              <a:t>• Frontend Angular por roles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24242"/>
                </a:solidFill>
                <a:latin typeface="Arial"/>
              </a:rPr>
              <a:t>• Despliegue (Docker) y observabilidad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24242"/>
                </a:solidFill>
                <a:latin typeface="Arial"/>
              </a:rPr>
              <a:t>• Cumplimiento de rúbrica y sílabo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24242"/>
                </a:solidFill>
                <a:latin typeface="Arial"/>
              </a:rPr>
              <a:t>• Demo y conclusiones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El problema (Análisis SEPTE)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424242"/>
                </a:solidFill>
                <a:latin typeface="Arial"/>
              </a:rPr>
              <a:t>• Lima genera 9 343 toneladas/día de residuos sólidos municipales.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24242"/>
                </a:solidFill>
                <a:latin typeface="Arial"/>
              </a:rPr>
              <a:t>• Solo el 3.9% de los reciclables se recupera formalmente.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24242"/>
                </a:solidFill>
                <a:latin typeface="Arial"/>
              </a:rPr>
              <a:t>• ~108 000 recicladores en el Perú; solo ~8% formalizados.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24242"/>
                </a:solidFill>
                <a:latin typeface="Arial"/>
              </a:rPr>
              <a:t>• Menos del 15% de los hogares limeños segrega en origen.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24242"/>
                </a:solidFill>
                <a:latin typeface="Arial"/>
              </a:rPr>
              <a:t>• Marco legal exige a las municipalidades programas de segregación (Ley 27314, 29419).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24242"/>
                </a:solidFill>
                <a:latin typeface="Arial"/>
              </a:rPr>
              <a:t>• Oportunidad: reducir la fricción entre vecino y reciclador y medir el impacto.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La solución: ReciclaPe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424242"/>
                </a:solidFill>
                <a:latin typeface="Arial"/>
              </a:rPr>
              <a:t>• Plataforma web que conecta vecinos con recicladores formales.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24242"/>
                </a:solidFill>
                <a:latin typeface="Arial"/>
              </a:rPr>
              <a:t>• Programa y da seguimiento a recojos de residuos segregados.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24242"/>
                </a:solidFill>
                <a:latin typeface="Arial"/>
              </a:rPr>
              <a:t>• Calcula el impacto ambiental: kg recuperados y CO₂ evitado.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24242"/>
                </a:solidFill>
                <a:latin typeface="Arial"/>
              </a:rPr>
              <a:t>• Tres roles: Vecino, Reciclador y Administrador municipal.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424242"/>
                </a:solidFill>
                <a:latin typeface="Arial"/>
              </a:rPr>
              <a:t>• Backend de microservicios Spring Boot + frontend Angular.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Objetivos (SMART)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424242"/>
                </a:solidFill>
                <a:latin typeface="Arial"/>
              </a:rPr>
              <a:t>• OBJ 1 — Backend de ≥3 microservicios (auth, recojos, reportes) con JWT+BCrypt, comunicación Feign y RabbitMQ, ≥20 endpoints REST tras un API Gateway.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24242"/>
                </a:solidFill>
                <a:latin typeface="Arial"/>
              </a:rPr>
              <a:t>• OBJ 2 — Frontend Angular por rol que consume el 100% de los endpoints y muestra un dashboard de impacto con ≥3 indicadores.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24242"/>
                </a:solidFill>
                <a:latin typeface="Arial"/>
              </a:rPr>
              <a:t>• OBJ 3 — Contenerizar todo con Docker Compose y publicar un dashboard de observabilidad (Actuator + Prometheus + Grafana).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Arquitectura de microservicios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3-arquitectura-gen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181" y="1188720"/>
            <a:ext cx="6157333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Modelo de 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2-modelo-entidad-rel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031" y="1188720"/>
            <a:ext cx="3271633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Seguridad: login con JWT y BCrypt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5-secuencia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821" y="1188720"/>
            <a:ext cx="7118052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Flujo completo de recojo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6-secuencia-recoj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002" y="1188720"/>
            <a:ext cx="967369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API REST (GET / POST / PUT / DELETE)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9-mapa-end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3055" y="1188720"/>
            <a:ext cx="138558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Frontend Angular por roles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4-componentes-angu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188720"/>
            <a:ext cx="10515600" cy="461398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Despliegue y observabilidad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8-desplieg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921212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46720" y="1371600"/>
            <a:ext cx="384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424242"/>
                </a:solidFill>
                <a:latin typeface="Arial"/>
              </a:rPr>
              <a:t>• docker compose up levanta todo el stack.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24242"/>
                </a:solidFill>
                <a:latin typeface="Arial"/>
              </a:rPr>
              <a:t>• Actuator expone /prometheus.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24242"/>
                </a:solidFill>
                <a:latin typeface="Arial"/>
              </a:rPr>
              <a:t>• Prometheus recolecta métricas.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24242"/>
                </a:solidFill>
                <a:latin typeface="Arial"/>
              </a:rPr>
              <a:t>• Grafana muestra latencia y errores.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24242"/>
                </a:solidFill>
                <a:latin typeface="Arial"/>
              </a:rPr>
              <a:t>• RabbitMQ para eventos asíncronos.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Cumplimiento: rúbrica + sílabo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>
                <a:solidFill>
                  <a:srgbClr val="424242"/>
                </a:solidFill>
                <a:latin typeface="Arial"/>
              </a:rPr>
              <a:t>• Rúbrica: login REST + BCrypt, CRUD GET/POST/PUT/DELETE, Angular consume todo, pruebas de capa de datos (JUnit @DataJpaTest).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424242"/>
                </a:solidFill>
                <a:latin typeface="Arial"/>
              </a:rPr>
              <a:t>• Sílabo U1: Feign, RabbitMQ, Spring Cloud (Gateway, Eureka).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424242"/>
                </a:solidFill>
                <a:latin typeface="Arial"/>
              </a:rPr>
              <a:t>• Sílabo U2: JWT, Spring Security, Resilience4J, Docker.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424242"/>
                </a:solidFill>
                <a:latin typeface="Arial"/>
              </a:rPr>
              <a:t>• Sílabo U3: Actuator, Prometheus, Grafana (observabilidad).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424242"/>
                </a:solidFill>
                <a:latin typeface="Arial"/>
              </a:rPr>
              <a:t>• Parte formal: SEPTE con fuentes citadas, objetivos SMART, justificación, conclusiones.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Hitos del proyecto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424242"/>
                </a:solidFill>
                <a:latin typeface="Arial"/>
              </a:rPr>
              <a:t>• Semana 5 — T1 (laboratorio individual).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24242"/>
                </a:solidFill>
                <a:latin typeface="Arial"/>
              </a:rPr>
              <a:t>• Semana 9 — T2 (laboratorio individual).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24242"/>
                </a:solidFill>
                <a:latin typeface="Arial"/>
              </a:rPr>
              <a:t>• Semana 11 — AP1: auth + recojo + Angular login + 1 CRUD + tests + compose.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24242"/>
                </a:solidFill>
                <a:latin typeface="Arial"/>
              </a:rPr>
              <a:t>• Semana 13-14 — EF/SP1: todos los microservicios + Gateway + Feign + RabbitMQ + Actuator/Prometheus + Angular completo + video.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Conclusiones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424242"/>
                </a:solidFill>
                <a:latin typeface="Arial"/>
              </a:rPr>
              <a:t>• La arquitectura de microservicios alinea el proyecto con el logro del curso y separa responsabilidades con claridad.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24242"/>
                </a:solidFill>
                <a:latin typeface="Arial"/>
              </a:rPr>
              <a:t>• El registro digital de recojos y el cálculo de impacto dan trazabilidad útil para las municipalidades (Ley 27314, Programa de Incentivos del MEF).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24242"/>
                </a:solidFill>
                <a:latin typeface="Arial"/>
              </a:rPr>
              <a:t>• Integrar seguridad, resiliencia y observabilidad desde temprano es factible a escala académica y transferible a lo profesional.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Arial"/>
              </a:rPr>
              <a:t>¡Gracias!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E8F5E9"/>
                </a:solidFill>
                <a:latin typeface="Arial"/>
              </a:rPr>
              <a:t>ReciclaPe — Desarrollo de Aplicaciones Web II (4697)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